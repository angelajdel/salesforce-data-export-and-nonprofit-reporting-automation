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Job Training</c:v>
                  </c:pt>
                  <c:pt idx="1">
                    <c:v>Housing Assistance</c:v>
                  </c:pt>
                  <c:pt idx="2">
                    <c:v>Food Security</c:v>
                  </c:pt>
                  <c:pt idx="3">
                    <c:v>Youth Mentorship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Raised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B43"/>
              </a:solidFill>
              <a:effectLst/>
            </c:spPr>
          </c:dPt>
          <c:dPt>
            <c:idx val="1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bubble3D val="0"/>
            <c:spPr>
              <a:solidFill>
                <a:srgbClr val="D4A24C"/>
              </a:solidFill>
              <a:effectLst/>
            </c:spPr>
          </c:dPt>
          <c:dPt>
            <c:idx val="3"/>
            <c:bubble3D val="0"/>
            <c:spPr>
              <a:solidFill>
                <a:srgbClr val="9BC6BA"/>
              </a:solidFill>
              <a:effectLst/>
            </c:spPr>
          </c:dPt>
          <c:dLbls>
            <c:dLbl>
              <c:idx val="0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$#,##0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$#,##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Corporate Match</c:v>
                </c:pt>
                <c:pt idx="1">
                  <c:v>Major Gifts</c:v>
                </c:pt>
                <c:pt idx="2">
                  <c:v>Winter Appeal</c:v>
                </c:pt>
                <c:pt idx="3">
                  <c:v>General Fund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22500</c:v>
                </c:pt>
                <c:pt idx="1">
                  <c:v>16800</c:v>
                </c:pt>
                <c:pt idx="2">
                  <c:v>4550</c:v>
                </c:pt>
                <c:pt idx="3">
                  <c:v>1395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6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B43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2E7D6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D4A24C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IMPACT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served, dollars raised, and what's ahead this quarter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B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a cleaned, de-duplicated Salesforce export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1B4B43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Clients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1B4B4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2900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Clients Served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1B4B4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$45,245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Raised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89720" y="146304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4F7F5"/>
          </a:solidFill>
          <a:ln/>
          <a:effectLst>
            <a:outerShdw sx="100000" sy="100000" kx="0" ky="0" algn="bl" rotWithShape="0" blurRad="101600" dist="38100" dir="5400000">
              <a:srgbClr val="1B4B4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8972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18972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This Period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this cycle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test/demo records removed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duplicate records removed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on the following slides reflects the cleaned, verified dataset only.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Served by Program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18120" y="1280160"/>
            <a:ext cx="3794760" cy="4937760"/>
          </a:xfrm>
          <a:prstGeom prst="roundRect">
            <a:avLst>
              <a:gd name="adj" fmla="val 2892"/>
            </a:avLst>
          </a:prstGeom>
          <a:solidFill>
            <a:srgbClr val="F4F7F5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092440" y="210312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Training remains our largest program this month, with Housing Assistance and Food Security close behind. Youth Mentorship is the smallest but growing steadily as referral partnerships expand.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Fundraising by Campaign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0350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949440" y="1280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Donors This Period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949440" y="1874520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F4F7F5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19385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TheFord Family Trust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0" y="1938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2651760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F4F7F5"/>
          </a:solidFill>
          <a:ln/>
        </p:spPr>
      </p:sp>
      <p:sp>
        <p:nvSpPr>
          <p:cNvPr id="9" name="Text 6"/>
          <p:cNvSpPr/>
          <p:nvPr/>
        </p:nvSpPr>
        <p:spPr>
          <a:xfrm>
            <a:off x="7178040" y="2715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Bank Foundation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0" y="27157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3429000"/>
            <a:ext cx="4663440" cy="640080"/>
          </a:xfrm>
          <a:prstGeom prst="roundRect">
            <a:avLst>
              <a:gd name="adj" fmla="val 14286"/>
            </a:avLst>
          </a:prstGeom>
          <a:solidFill>
            <a:srgbClr val="F4F7F5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34930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Riverside Auto Group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0" y="34930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949440" y="49377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raised this period: $45,245 across 16 donors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Deadlines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3574D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84708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4A2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1645920"/>
            <a:ext cx="8961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Appeal final report due to 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3574D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03580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2834640"/>
            <a:ext cx="8961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grant renewal submission (Community Bank Fdn)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23574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224528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245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4023360"/>
            <a:ext cx="8961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campaign kickoff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before next month's meeting? Reach out any time.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2026-07-29T14:56:59Z</dcterms:created>
  <dcterms:modified xsi:type="dcterms:W3CDTF">2026-07-29T14:56:59Z</dcterms:modified>
</cp:coreProperties>
</file>